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70674AF-75F8-1D9D-FB03-4C71E92B3090}">
          <p14:sldIdLst>
            <p14:sldId id="256"/>
          </p14:sldIdLst>
        </p14:section>
        <p14:section name="Theory" id="{EDC0C840-0914-65D9-F636-85F06A022698}">
          <p14:sldIdLst>
            <p14:sldId id="257"/>
            <p14:sldId id="258"/>
            <p14:sldId id="259"/>
          </p14:sldIdLst>
        </p14:section>
        <p14:section name="Implementation" id="{0CC84FE6-2B2D-DCDC-EF1F-92402345E765}">
          <p14:sldIdLst>
            <p14:sldId id="260"/>
          </p14:sldIdLst>
        </p14:section>
        <p14:section name="Results" id="{CA4A9D9C-A950-6AE6-769B-95D66BF398FB}">
          <p14:sldIdLst>
            <p14:sldId id="261"/>
            <p14:sldId id="262"/>
            <p14:sldId id="263"/>
            <p14:sldId id="264"/>
          </p14:sldIdLst>
        </p14:section>
        <p14:section name="Conclusion" id="{159B3B72-66F3-C6B6-3595-B5DB087AFA9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04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the team. One line: we modelled and analysed a magic tee, a four-port waveguide junction, in MATLAB.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magic tee joins an E-plane tee and an H-plane tee at one point. Our objective is to model it as an S-matrix, check its properties, and visualise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Ports 1 and 2 are the collinear arms. Port 3 is the H-arm and gives the sum. Port 4 is the E-arm and gives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cases, then show the ideal S-matrix. Rows and columns are Ports 1 to 4. The matrix is symmetric, unitary, and Ports 1-2 and 3-4 are isolated.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is one function with local helpers. It builds the ideal matrix, a non-ideal version, checks the properties, computes power for five excitations and plots six figures. The non-ideal values are assumptions, not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console output. Point out: ideal unitarity error is about 1e-16; non-ideal unitarity error is 0.45 because the model has loss; both are passive. Power table: ideal total power is 1, non-ideal is about 0.82.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3D model uses true WR-90 cross-section. The H-arm attaches to the narrow wall and the E-arm to the broad wall. Arm lengths are only for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magnitude heat map of the S-matrix, ideal versus non-ideal. Right: output power for each excitation. Non-ideal outputs are lower because of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sweeping the input phase difference swaps power between Port 3 and Port 4. Top right: WR-90 cutoff is 6.557 GHz, guide wavelength at 10 GHz is 39.7 mm. Bottom right: key S-parameters in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ideal model behaves exactly as theory predicts. State the limitation openly: non-ideal values are assumed and the next step is a field-solver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09728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Magic Tee (Hybrid Tee) Formation and Analysis  |  Microwave and Waveguide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0972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Magic Tee (Hybrid Tee) Formation and Analysis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 smtClean="0">
                <a:solidFill>
                  <a:schemeClr val="bg2"/>
                </a:solidFill>
              </a:rPr>
              <a:t>18EC2021 Microwave </a:t>
            </a:r>
            <a:r>
              <a:rPr lang="en-US" sz="2200" dirty="0">
                <a:solidFill>
                  <a:schemeClr val="bg2"/>
                </a:solidFill>
              </a:rPr>
              <a:t>and </a:t>
            </a:r>
            <a:r>
              <a:rPr lang="en-US" sz="2200" dirty="0" smtClean="0">
                <a:solidFill>
                  <a:schemeClr val="bg2"/>
                </a:solidFill>
              </a:rPr>
              <a:t>Optical Communication|  </a:t>
            </a:r>
            <a:r>
              <a:rPr lang="en-US" sz="2200" dirty="0" err="1" smtClean="0">
                <a:solidFill>
                  <a:schemeClr val="bg2"/>
                </a:solidFill>
              </a:rPr>
              <a:t>IIIrd</a:t>
            </a:r>
            <a:r>
              <a:rPr lang="en-US" sz="2200" dirty="0" smtClean="0">
                <a:solidFill>
                  <a:schemeClr val="bg2"/>
                </a:solidFill>
              </a:rPr>
              <a:t> Internal Project</a:t>
            </a:r>
            <a:endParaRPr lang="en-US" sz="2200" dirty="0"/>
          </a:p>
        </p:txBody>
      </p:sp>
      <p:sp>
        <p:nvSpPr>
          <p:cNvPr id="4" name="Done by label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Done by</a:t>
            </a:r>
            <a:endParaRPr lang="en-US" sz="1600" dirty="0"/>
          </a:p>
        </p:txBody>
      </p:sp>
      <p:sp>
        <p:nvSpPr>
          <p:cNvPr id="5" name="Team member 1"/>
          <p:cNvSpPr txBox="1"/>
          <p:nvPr/>
        </p:nvSpPr>
        <p:spPr>
          <a:xfrm>
            <a:off x="73152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Chrish Zeyeden - URK23EC1036</a:t>
            </a:r>
            <a:endParaRPr lang="en-US" sz="1800" dirty="0"/>
          </a:p>
        </p:txBody>
      </p:sp>
      <p:sp>
        <p:nvSpPr>
          <p:cNvPr id="6" name="Team member 2"/>
          <p:cNvSpPr txBox="1"/>
          <p:nvPr/>
        </p:nvSpPr>
        <p:spPr>
          <a:xfrm>
            <a:off x="621792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Pranov Raghavendhra - UTK23EC1001</a:t>
            </a:r>
            <a:endParaRPr lang="en-US" sz="1800" dirty="0"/>
          </a:p>
        </p:txBody>
      </p:sp>
      <p:sp>
        <p:nvSpPr>
          <p:cNvPr id="7" name="Team member 3"/>
          <p:cNvSpPr txBox="1"/>
          <p:nvPr/>
        </p:nvSpPr>
        <p:spPr>
          <a:xfrm>
            <a:off x="731520" y="5074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Shivabalan - URK23EC1055</a:t>
            </a:r>
            <a:endParaRPr lang="en-US" sz="1800" dirty="0"/>
          </a:p>
        </p:txBody>
      </p:sp>
      <p:sp>
        <p:nvSpPr>
          <p:cNvPr id="8" name="Team member 4"/>
          <p:cNvSpPr txBox="1"/>
          <p:nvPr/>
        </p:nvSpPr>
        <p:spPr>
          <a:xfrm>
            <a:off x="6217920" y="5074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Joel Jones - URK23EC1017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 and Objective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554480"/>
            <a:ext cx="53949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heading 1"/>
          <p:cNvSpPr txBox="1"/>
          <p:nvPr/>
        </p:nvSpPr>
        <p:spPr>
          <a:xfrm>
            <a:off x="91440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is a Magic Tee?</a:t>
            </a:r>
            <a:endParaRPr lang="en-US" sz="2400" dirty="0"/>
          </a:p>
        </p:txBody>
      </p:sp>
      <p:sp>
        <p:nvSpPr>
          <p:cNvPr id="5" name="Card body 1"/>
          <p:cNvSpPr txBox="1"/>
          <p:nvPr/>
        </p:nvSpPr>
        <p:spPr>
          <a:xfrm>
            <a:off x="914400" y="2651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Four-port waveguide junction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Combines an E-plane tee and an H-plane tee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Also called a hybrid tee</a:t>
            </a:r>
            <a:endParaRPr lang="en-US" sz="1800" dirty="0"/>
          </a:p>
        </p:txBody>
      </p:sp>
      <p:sp>
        <p:nvSpPr>
          <p:cNvPr id="6" name="Card 2"/>
          <p:cNvSpPr/>
          <p:nvPr/>
        </p:nvSpPr>
        <p:spPr>
          <a:xfrm>
            <a:off x="6217920" y="1554480"/>
            <a:ext cx="53949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heading 2"/>
          <p:cNvSpPr txBox="1"/>
          <p:nvPr/>
        </p:nvSpPr>
        <p:spPr>
          <a:xfrm>
            <a:off x="658368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Objective</a:t>
            </a:r>
            <a:endParaRPr lang="en-US" sz="2400" dirty="0"/>
          </a:p>
        </p:txBody>
      </p:sp>
      <p:sp>
        <p:nvSpPr>
          <p:cNvPr id="8" name="Card body 2"/>
          <p:cNvSpPr txBox="1"/>
          <p:nvPr/>
        </p:nvSpPr>
        <p:spPr>
          <a:xfrm>
            <a:off x="6583680" y="2651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 the ideal and non-ideal S-matrix in MATLAB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Verify reciprocity, unitarity and isolation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Visualise the 3D geometry and power distribution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Structure and Ports</a:t>
            </a:r>
            <a:endParaRPr lang="en-US" sz="3400" dirty="0"/>
          </a:p>
        </p:txBody>
      </p:sp>
      <p:sp>
        <p:nvSpPr>
          <p:cNvPr id="3" name="Junction block"/>
          <p:cNvSpPr/>
          <p:nvPr/>
        </p:nvSpPr>
        <p:spPr>
          <a:xfrm>
            <a:off x="2606040" y="3063240"/>
            <a:ext cx="1554480" cy="1371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Junction block text"/>
          <p:cNvSpPr txBox="1"/>
          <p:nvPr/>
        </p:nvSpPr>
        <p:spPr>
          <a:xfrm>
            <a:off x="2606040" y="3063240"/>
            <a:ext cx="1554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Junction</a:t>
            </a:r>
            <a:endParaRPr lang="en-US" sz="1400" dirty="0"/>
          </a:p>
        </p:txBody>
      </p:sp>
      <p:sp>
        <p:nvSpPr>
          <p:cNvPr id="5" name="Port 1 block"/>
          <p:cNvSpPr/>
          <p:nvPr/>
        </p:nvSpPr>
        <p:spPr>
          <a:xfrm>
            <a:off x="548640" y="3383280"/>
            <a:ext cx="146304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Port 1 block text"/>
          <p:cNvSpPr txBox="1"/>
          <p:nvPr/>
        </p:nvSpPr>
        <p:spPr>
          <a:xfrm>
            <a:off x="54864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Port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Collinear</a:t>
            </a:r>
            <a:endParaRPr lang="en-US" sz="1400" dirty="0"/>
          </a:p>
        </p:txBody>
      </p:sp>
      <p:sp>
        <p:nvSpPr>
          <p:cNvPr id="7" name="Port 2 block"/>
          <p:cNvSpPr/>
          <p:nvPr/>
        </p:nvSpPr>
        <p:spPr>
          <a:xfrm>
            <a:off x="4754880" y="3383280"/>
            <a:ext cx="146304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Port 2 block text"/>
          <p:cNvSpPr txBox="1"/>
          <p:nvPr/>
        </p:nvSpPr>
        <p:spPr>
          <a:xfrm>
            <a:off x="475488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Port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Collinear</a:t>
            </a:r>
            <a:endParaRPr lang="en-US" sz="1400" dirty="0"/>
          </a:p>
        </p:txBody>
      </p:sp>
      <p:sp>
        <p:nvSpPr>
          <p:cNvPr id="9" name="Port 3 block"/>
          <p:cNvSpPr/>
          <p:nvPr/>
        </p:nvSpPr>
        <p:spPr>
          <a:xfrm>
            <a:off x="2286000" y="1417320"/>
            <a:ext cx="219456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Port 3 block text"/>
          <p:cNvSpPr txBox="1"/>
          <p:nvPr/>
        </p:nvSpPr>
        <p:spPr>
          <a:xfrm>
            <a:off x="228600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Port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H-arm (Sum)</a:t>
            </a:r>
            <a:endParaRPr lang="en-US" sz="1400" dirty="0"/>
          </a:p>
        </p:txBody>
      </p:sp>
      <p:sp>
        <p:nvSpPr>
          <p:cNvPr id="11" name="Port 4 block"/>
          <p:cNvSpPr/>
          <p:nvPr/>
        </p:nvSpPr>
        <p:spPr>
          <a:xfrm>
            <a:off x="2286000" y="5349240"/>
            <a:ext cx="219456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Port 4 block text"/>
          <p:cNvSpPr txBox="1"/>
          <p:nvPr/>
        </p:nvSpPr>
        <p:spPr>
          <a:xfrm>
            <a:off x="2286000" y="534924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Port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E-arm (Difference)</a:t>
            </a:r>
            <a:endParaRPr lang="en-US" sz="1400" dirty="0"/>
          </a:p>
        </p:txBody>
      </p:sp>
      <p:sp>
        <p:nvSpPr>
          <p:cNvPr id="13" name="Connector"/>
          <p:cNvSpPr/>
          <p:nvPr/>
        </p:nvSpPr>
        <p:spPr>
          <a:xfrm>
            <a:off x="2011680" y="3749040"/>
            <a:ext cx="5943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4" name="Connector"/>
          <p:cNvSpPr/>
          <p:nvPr/>
        </p:nvSpPr>
        <p:spPr>
          <a:xfrm>
            <a:off x="4160520" y="3749040"/>
            <a:ext cx="5943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5" name="Connector"/>
          <p:cNvSpPr/>
          <p:nvPr/>
        </p:nvSpPr>
        <p:spPr>
          <a:xfrm>
            <a:off x="3383280" y="2148840"/>
            <a:ext cx="0" cy="9144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6" name="Connector"/>
          <p:cNvSpPr/>
          <p:nvPr/>
        </p:nvSpPr>
        <p:spPr>
          <a:xfrm>
            <a:off x="3383280" y="4434840"/>
            <a:ext cx="0" cy="9144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headEnd type="triangle"/>
            <a:tailEnd type="triangle"/>
          </a:ln>
        </p:spPr>
      </p:sp>
      <p:graphicFrame>
        <p:nvGraphicFramePr>
          <p:cNvPr id="17" name="Po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4937760" cy="2514600"/>
        </p:xfrm>
        <a:graphic>
          <a:graphicData uri="http://schemas.openxmlformats.org/drawingml/2006/table">
            <a:tbl>
              <a:tblPr/>
              <a:tblGrid>
                <a:gridCol w="822960"/>
                <a:gridCol w="1920240"/>
                <a:gridCol w="219456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Collinear arm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Input / output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Collinear arm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Input / output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H-arm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Sum port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E-arm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Difference port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Diagram note"/>
          <p:cNvSpPr txBox="1"/>
          <p:nvPr/>
        </p:nvSpPr>
        <p:spPr>
          <a:xfrm>
            <a:off x="667512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Top view. Port 4 leaves the plane of the page (E-plane stub).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Working Principle and S-Matrix</a:t>
            </a:r>
            <a:endParaRPr lang="en-US" sz="3400" dirty="0"/>
          </a:p>
        </p:txBody>
      </p:sp>
      <p:graphicFrame>
        <p:nvGraphicFramePr>
          <p:cNvPr id="5" name="Exci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21792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Excitation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Input at Port 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Equal split to Ports 1 and 2, in phase. Port 4 isolated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Input at Port 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Equal split to Ports 1 and 2, 180° out of phase. Port 3 isolated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Input at Port 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Equal split to Ports 3 and 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Ports 1 and 2 together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Sum at Port 3, difference at Port 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atrix label"/>
          <p:cNvSpPr txBox="1"/>
          <p:nvPr/>
        </p:nvSpPr>
        <p:spPr>
          <a:xfrm>
            <a:off x="731520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 = (1/√2) ×</a:t>
            </a:r>
            <a:endParaRPr lang="en-US" sz="2000" dirty="0"/>
          </a:p>
        </p:txBody>
      </p:sp>
      <p:graphicFrame>
        <p:nvGraphicFramePr>
          <p:cNvPr id="9" name="S-matr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011680"/>
          <a:ext cx="4023360" cy="237744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−1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−1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Properties"/>
          <p:cNvSpPr txBox="1"/>
          <p:nvPr/>
        </p:nvSpPr>
        <p:spPr>
          <a:xfrm>
            <a:off x="7315200" y="4663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Reciprocal (symmetric)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Lossless (unitary)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Isolated: S12 = S34 = 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MATLAB Implementation</a:t>
            </a:r>
            <a:endParaRPr lang="en-US" sz="3400" dirty="0"/>
          </a:p>
        </p:txBody>
      </p:sp>
      <p:sp>
        <p:nvSpPr>
          <p:cNvPr id="3" name="Flow block 1"/>
          <p:cNvSpPr/>
          <p:nvPr/>
        </p:nvSpPr>
        <p:spPr>
          <a:xfrm>
            <a:off x="548640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Flow block 1 text"/>
          <p:cNvSpPr txBox="1"/>
          <p:nvPr/>
        </p:nvSpPr>
        <p:spPr>
          <a:xfrm>
            <a:off x="548640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Define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parameters</a:t>
            </a:r>
            <a:endParaRPr lang="en-US" sz="1400" dirty="0"/>
          </a:p>
        </p:txBody>
      </p:sp>
      <p:sp>
        <p:nvSpPr>
          <p:cNvPr id="5" name="Flow caption 1"/>
          <p:cNvSpPr txBox="1"/>
          <p:nvPr/>
        </p:nvSpPr>
        <p:spPr>
          <a:xfrm>
            <a:off x="54864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WR-90, 10 GHz</a:t>
            </a:r>
            <a:endParaRPr lang="en-US" sz="1200" dirty="0"/>
          </a:p>
        </p:txBody>
      </p:sp>
      <p:sp>
        <p:nvSpPr>
          <p:cNvPr id="6" name="Connector"/>
          <p:cNvSpPr/>
          <p:nvPr/>
        </p:nvSpPr>
        <p:spPr>
          <a:xfrm>
            <a:off x="2185416" y="219456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Flow block 2"/>
          <p:cNvSpPr/>
          <p:nvPr/>
        </p:nvSpPr>
        <p:spPr>
          <a:xfrm>
            <a:off x="2441448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Flow block 2 text"/>
          <p:cNvSpPr txBox="1"/>
          <p:nvPr/>
        </p:nvSpPr>
        <p:spPr>
          <a:xfrm>
            <a:off x="2441448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Ideal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S-matrix</a:t>
            </a:r>
            <a:endParaRPr lang="en-US" sz="1400" dirty="0"/>
          </a:p>
        </p:txBody>
      </p:sp>
      <p:sp>
        <p:nvSpPr>
          <p:cNvPr id="9" name="Flow caption 2"/>
          <p:cNvSpPr txBox="1"/>
          <p:nvPr/>
        </p:nvSpPr>
        <p:spPr>
          <a:xfrm>
            <a:off x="2441448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Textbook 4×4 matrix</a:t>
            </a:r>
            <a:endParaRPr lang="en-US" sz="1200" dirty="0"/>
          </a:p>
        </p:txBody>
      </p:sp>
      <p:sp>
        <p:nvSpPr>
          <p:cNvPr id="10" name="Connector"/>
          <p:cNvSpPr/>
          <p:nvPr/>
        </p:nvSpPr>
        <p:spPr>
          <a:xfrm>
            <a:off x="4078224" y="219456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Flow block 3"/>
          <p:cNvSpPr/>
          <p:nvPr/>
        </p:nvSpPr>
        <p:spPr>
          <a:xfrm>
            <a:off x="4334256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Flow block 3 text"/>
          <p:cNvSpPr txBox="1"/>
          <p:nvPr/>
        </p:nvSpPr>
        <p:spPr>
          <a:xfrm>
            <a:off x="4334256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Non-ideal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S-matrix</a:t>
            </a:r>
            <a:endParaRPr lang="en-US" sz="1400" dirty="0"/>
          </a:p>
        </p:txBody>
      </p:sp>
      <p:sp>
        <p:nvSpPr>
          <p:cNvPr id="13" name="Flow caption 3"/>
          <p:cNvSpPr txBox="1"/>
          <p:nvPr/>
        </p:nvSpPr>
        <p:spPr>
          <a:xfrm>
            <a:off x="4334256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Loss, isolation, mismatch</a:t>
            </a:r>
            <a:endParaRPr lang="en-US" sz="1200" dirty="0"/>
          </a:p>
        </p:txBody>
      </p:sp>
      <p:sp>
        <p:nvSpPr>
          <p:cNvPr id="14" name="Connector"/>
          <p:cNvSpPr/>
          <p:nvPr/>
        </p:nvSpPr>
        <p:spPr>
          <a:xfrm>
            <a:off x="5971032" y="219456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low block 4"/>
          <p:cNvSpPr/>
          <p:nvPr/>
        </p:nvSpPr>
        <p:spPr>
          <a:xfrm>
            <a:off x="6227064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Flow block 4 text"/>
          <p:cNvSpPr txBox="1"/>
          <p:nvPr/>
        </p:nvSpPr>
        <p:spPr>
          <a:xfrm>
            <a:off x="6227064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Verify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properties</a:t>
            </a:r>
            <a:endParaRPr lang="en-US" sz="1400" dirty="0"/>
          </a:p>
        </p:txBody>
      </p:sp>
      <p:sp>
        <p:nvSpPr>
          <p:cNvPr id="17" name="Flow caption 4"/>
          <p:cNvSpPr txBox="1"/>
          <p:nvPr/>
        </p:nvSpPr>
        <p:spPr>
          <a:xfrm>
            <a:off x="6227064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Symmetry, unitarity, passivity</a:t>
            </a:r>
            <a:endParaRPr lang="en-US" sz="1200" dirty="0"/>
          </a:p>
        </p:txBody>
      </p:sp>
      <p:sp>
        <p:nvSpPr>
          <p:cNvPr id="18" name="Connector"/>
          <p:cNvSpPr/>
          <p:nvPr/>
        </p:nvSpPr>
        <p:spPr>
          <a:xfrm>
            <a:off x="7863840" y="219456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Flow block 5"/>
          <p:cNvSpPr/>
          <p:nvPr/>
        </p:nvSpPr>
        <p:spPr>
          <a:xfrm>
            <a:off x="8119872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Flow block 5 text"/>
          <p:cNvSpPr txBox="1"/>
          <p:nvPr/>
        </p:nvSpPr>
        <p:spPr>
          <a:xfrm>
            <a:off x="8119872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Power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distribution</a:t>
            </a:r>
            <a:endParaRPr lang="en-US" sz="1400" dirty="0"/>
          </a:p>
        </p:txBody>
      </p:sp>
      <p:sp>
        <p:nvSpPr>
          <p:cNvPr id="21" name="Flow caption 5"/>
          <p:cNvSpPr txBox="1"/>
          <p:nvPr/>
        </p:nvSpPr>
        <p:spPr>
          <a:xfrm>
            <a:off x="8119872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5 excitation cases</a:t>
            </a:r>
            <a:endParaRPr lang="en-US" sz="1200" dirty="0"/>
          </a:p>
        </p:txBody>
      </p:sp>
      <p:sp>
        <p:nvSpPr>
          <p:cNvPr id="22" name="Connector"/>
          <p:cNvSpPr/>
          <p:nvPr/>
        </p:nvSpPr>
        <p:spPr>
          <a:xfrm>
            <a:off x="9756648" y="219456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Flow block 6"/>
          <p:cNvSpPr/>
          <p:nvPr/>
        </p:nvSpPr>
        <p:spPr>
          <a:xfrm>
            <a:off x="10012680" y="1645920"/>
            <a:ext cx="160020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Flow block 6 text"/>
          <p:cNvSpPr txBox="1"/>
          <p:nvPr/>
        </p:nvSpPr>
        <p:spPr>
          <a:xfrm>
            <a:off x="10012680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Plots 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results</a:t>
            </a:r>
            <a:endParaRPr lang="en-US" sz="1400" dirty="0"/>
          </a:p>
        </p:txBody>
      </p:sp>
      <p:sp>
        <p:nvSpPr>
          <p:cNvPr id="25" name="Flow caption 6"/>
          <p:cNvSpPr txBox="1"/>
          <p:nvPr/>
        </p:nvSpPr>
        <p:spPr>
          <a:xfrm>
            <a:off x="1001268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6 figures</a:t>
            </a:r>
            <a:endParaRPr lang="en-US" sz="1200" dirty="0"/>
          </a:p>
        </p:txBody>
      </p:sp>
      <p:sp>
        <p:nvSpPr>
          <p:cNvPr id="26" name="Non-ideal heading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Non-ideal effects modelled (assumed values, not measured)</a:t>
            </a:r>
            <a:endParaRPr lang="en-US" sz="1800" dirty="0"/>
          </a:p>
        </p:txBody>
      </p:sp>
      <p:sp>
        <p:nvSpPr>
          <p:cNvPr id="27" name="Effect card 1"/>
          <p:cNvSpPr/>
          <p:nvPr/>
        </p:nvSpPr>
        <p:spPr>
          <a:xfrm>
            <a:off x="548640" y="457200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Effect label 1"/>
          <p:cNvSpPr txBox="1"/>
          <p:nvPr/>
        </p:nvSpPr>
        <p:spPr>
          <a:xfrm>
            <a:off x="548640" y="4572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Insertion loss</a:t>
            </a:r>
            <a:endParaRPr lang="en-US" sz="1800" dirty="0"/>
          </a:p>
        </p:txBody>
      </p:sp>
      <p:sp>
        <p:nvSpPr>
          <p:cNvPr id="29" name="Effect card 2"/>
          <p:cNvSpPr/>
          <p:nvPr/>
        </p:nvSpPr>
        <p:spPr>
          <a:xfrm>
            <a:off x="4343400" y="457200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Effect label 2"/>
          <p:cNvSpPr txBox="1"/>
          <p:nvPr/>
        </p:nvSpPr>
        <p:spPr>
          <a:xfrm>
            <a:off x="4343400" y="4572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Finite isolation</a:t>
            </a:r>
            <a:endParaRPr lang="en-US" sz="1800" dirty="0"/>
          </a:p>
        </p:txBody>
      </p:sp>
      <p:sp>
        <p:nvSpPr>
          <p:cNvPr id="31" name="Effect card 3"/>
          <p:cNvSpPr/>
          <p:nvPr/>
        </p:nvSpPr>
        <p:spPr>
          <a:xfrm>
            <a:off x="8138160" y="457200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Effect label 3"/>
          <p:cNvSpPr txBox="1"/>
          <p:nvPr/>
        </p:nvSpPr>
        <p:spPr>
          <a:xfrm>
            <a:off x="8138160" y="4572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Port mismatch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MATLAB Command Window Output</a:t>
            </a:r>
            <a:endParaRPr lang="en-US" sz="3400" dirty="0"/>
          </a:p>
        </p:txBody>
      </p:sp>
      <p:sp>
        <p:nvSpPr>
          <p:cNvPr id="4" name="Image placeholder label"/>
          <p:cNvSpPr txBox="1"/>
          <p:nvPr/>
        </p:nvSpPr>
        <p:spPr>
          <a:xfrm>
            <a:off x="548640" y="146304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Caption 1"/>
          <p:cNvSpPr txBox="1"/>
          <p:nvPr/>
        </p:nvSpPr>
        <p:spPr>
          <a:xfrm>
            <a:off x="548640" y="58521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Command Window, part 1</a:t>
            </a:r>
            <a:endParaRPr lang="en-US" sz="1200" dirty="0"/>
          </a:p>
        </p:txBody>
      </p:sp>
      <p:sp>
        <p:nvSpPr>
          <p:cNvPr id="8" name="Caption 2"/>
          <p:cNvSpPr txBox="1"/>
          <p:nvPr/>
        </p:nvSpPr>
        <p:spPr>
          <a:xfrm>
            <a:off x="6172200" y="58521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Command Window, part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44" y="1202153"/>
            <a:ext cx="5804715" cy="44088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23" y="1202154"/>
            <a:ext cx="5512158" cy="3900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759" y="5063675"/>
            <a:ext cx="3296154" cy="8330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3D Geometry</a:t>
            </a:r>
            <a:endParaRPr lang="en-US" sz="3400" dirty="0"/>
          </a:p>
        </p:txBody>
      </p:sp>
      <p:sp>
        <p:nvSpPr>
          <p:cNvPr id="3" name="Image placeholder frame"/>
          <p:cNvSpPr/>
          <p:nvPr/>
        </p:nvSpPr>
        <p:spPr>
          <a:xfrm>
            <a:off x="548640" y="1463040"/>
            <a:ext cx="7498080" cy="46634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4" name="Image placeholder label"/>
          <p:cNvSpPr txBox="1"/>
          <p:nvPr/>
        </p:nvSpPr>
        <p:spPr>
          <a:xfrm>
            <a:off x="548640" y="1463040"/>
            <a:ext cx="74980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Fact card 1"/>
          <p:cNvSpPr/>
          <p:nvPr/>
        </p:nvSpPr>
        <p:spPr>
          <a:xfrm>
            <a:off x="8321040" y="1463040"/>
            <a:ext cx="32918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act text 1"/>
          <p:cNvSpPr txBox="1"/>
          <p:nvPr/>
        </p:nvSpPr>
        <p:spPr>
          <a:xfrm>
            <a:off x="8503920" y="1463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WR-90 waveguide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= 22.86 mm, b = 10.16 mm</a:t>
            </a:r>
            <a:endParaRPr lang="en-US" sz="1600" dirty="0"/>
          </a:p>
        </p:txBody>
      </p:sp>
      <p:sp>
        <p:nvSpPr>
          <p:cNvPr id="7" name="Fact card 2"/>
          <p:cNvSpPr/>
          <p:nvPr/>
        </p:nvSpPr>
        <p:spPr>
          <a:xfrm>
            <a:off x="8321040" y="3063240"/>
            <a:ext cx="32918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act text 2"/>
          <p:cNvSpPr txBox="1"/>
          <p:nvPr/>
        </p:nvSpPr>
        <p:spPr>
          <a:xfrm>
            <a:off x="8503920" y="30632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H-arm (Port 3)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 the narrow wall, in the H-plane</a:t>
            </a:r>
            <a:endParaRPr lang="en-US" sz="1600" dirty="0"/>
          </a:p>
        </p:txBody>
      </p:sp>
      <p:sp>
        <p:nvSpPr>
          <p:cNvPr id="9" name="Fact card 3"/>
          <p:cNvSpPr/>
          <p:nvPr/>
        </p:nvSpPr>
        <p:spPr>
          <a:xfrm>
            <a:off x="8321040" y="4663440"/>
            <a:ext cx="32918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ct text 3"/>
          <p:cNvSpPr txBox="1"/>
          <p:nvPr/>
        </p:nvSpPr>
        <p:spPr>
          <a:xfrm>
            <a:off x="8503920" y="46634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E-arm (Port 4)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 the broad wall, in the E-plane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426154"/>
            <a:ext cx="7498080" cy="4956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S-Matrix and Power Distribution</a:t>
            </a:r>
            <a:endParaRPr lang="en-US" sz="3400" dirty="0"/>
          </a:p>
        </p:txBody>
      </p:sp>
      <p:sp>
        <p:nvSpPr>
          <p:cNvPr id="3" name="Image placeholder frame"/>
          <p:cNvSpPr/>
          <p:nvPr/>
        </p:nvSpPr>
        <p:spPr>
          <a:xfrm>
            <a:off x="548640" y="1463040"/>
            <a:ext cx="5440680" cy="31089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4" name="Image placeholder label"/>
          <p:cNvSpPr txBox="1"/>
          <p:nvPr/>
        </p:nvSpPr>
        <p:spPr>
          <a:xfrm>
            <a:off x="548640" y="1463040"/>
            <a:ext cx="5440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Image placeholder frame"/>
          <p:cNvSpPr/>
          <p:nvPr/>
        </p:nvSpPr>
        <p:spPr>
          <a:xfrm>
            <a:off x="6172200" y="1463040"/>
            <a:ext cx="5440680" cy="31089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Image placeholder label"/>
          <p:cNvSpPr txBox="1"/>
          <p:nvPr/>
        </p:nvSpPr>
        <p:spPr>
          <a:xfrm>
            <a:off x="6172200" y="1463040"/>
            <a:ext cx="5440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akeaway 1"/>
          <p:cNvSpPr txBox="1"/>
          <p:nvPr/>
        </p:nvSpPr>
        <p:spPr>
          <a:xfrm>
            <a:off x="548640" y="47548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Ideal |S| = 0.707 (equal 3 dB split). Non-ideal adds small leakage terms.</a:t>
            </a:r>
            <a:endParaRPr lang="en-US" sz="1400" dirty="0"/>
          </a:p>
        </p:txBody>
      </p:sp>
      <p:sp>
        <p:nvSpPr>
          <p:cNvPr id="8" name="Takeaway 2"/>
          <p:cNvSpPr txBox="1"/>
          <p:nvPr/>
        </p:nvSpPr>
        <p:spPr>
          <a:xfrm>
            <a:off x="6172200" y="47548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phase gives all power at Port 3. Anti-phase gives all power at Port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71600"/>
            <a:ext cx="5440680" cy="3200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371600"/>
            <a:ext cx="5440680" cy="3200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Sum-Difference Behaviour and Waveguide Data</a:t>
            </a:r>
            <a:endParaRPr lang="en-US" sz="3400" dirty="0"/>
          </a:p>
        </p:txBody>
      </p:sp>
      <p:sp>
        <p:nvSpPr>
          <p:cNvPr id="3" name="Image placeholder frame"/>
          <p:cNvSpPr/>
          <p:nvPr/>
        </p:nvSpPr>
        <p:spPr>
          <a:xfrm>
            <a:off x="548640" y="1463040"/>
            <a:ext cx="5852160" cy="35661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4" name="Image placeholder label"/>
          <p:cNvSpPr txBox="1"/>
          <p:nvPr/>
        </p:nvSpPr>
        <p:spPr>
          <a:xfrm>
            <a:off x="548640" y="1463040"/>
            <a:ext cx="5852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Image placeholder frame"/>
          <p:cNvSpPr/>
          <p:nvPr/>
        </p:nvSpPr>
        <p:spPr>
          <a:xfrm>
            <a:off x="6629400" y="1463040"/>
            <a:ext cx="4983480" cy="2240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Image placeholder label"/>
          <p:cNvSpPr txBox="1"/>
          <p:nvPr/>
        </p:nvSpPr>
        <p:spPr>
          <a:xfrm>
            <a:off x="6629400" y="146304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Image placeholder label"/>
          <p:cNvSpPr txBox="1"/>
          <p:nvPr/>
        </p:nvSpPr>
        <p:spPr>
          <a:xfrm>
            <a:off x="662940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akeaway 3"/>
          <p:cNvSpPr txBox="1"/>
          <p:nvPr/>
        </p:nvSpPr>
        <p:spPr>
          <a:xfrm>
            <a:off x="548640" y="5212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Port 3 peaks at 0° and Port 4 at 180° input phase difference.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94" y="1371600"/>
            <a:ext cx="6113906" cy="36804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378" y="1294407"/>
            <a:ext cx="5049523" cy="24861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46" y="3842957"/>
            <a:ext cx="4983480" cy="2794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3474720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heading 1"/>
          <p:cNvSpPr txBox="1"/>
          <p:nvPr/>
        </p:nvSpPr>
        <p:spPr>
          <a:xfrm>
            <a:off x="82296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Card body 1"/>
          <p:cNvSpPr txBox="1"/>
          <p:nvPr/>
        </p:nvSpPr>
        <p:spPr>
          <a:xfrm>
            <a:off x="822960" y="25603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Ideal S-matrix verified: symmetric and unitary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 at Port 3 and difference at Port 4 confirmed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Non-ideal model shows lower output and finite isolation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4343400" y="1463040"/>
            <a:ext cx="3474720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heading 2"/>
          <p:cNvSpPr txBox="1"/>
          <p:nvPr/>
        </p:nvSpPr>
        <p:spPr>
          <a:xfrm>
            <a:off x="461772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8" name="Card body 2"/>
          <p:cNvSpPr txBox="1"/>
          <p:nvPr/>
        </p:nvSpPr>
        <p:spPr>
          <a:xfrm>
            <a:off x="4617720" y="25603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divider and combiner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Balanced mixer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Duplexer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Impedance bridge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Monopulse radar comparator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8138160" y="1463040"/>
            <a:ext cx="3474720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heading 3"/>
          <p:cNvSpPr txBox="1"/>
          <p:nvPr/>
        </p:nvSpPr>
        <p:spPr>
          <a:xfrm>
            <a:off x="841248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 and Future Work</a:t>
            </a:r>
            <a:endParaRPr lang="en-US" sz="2000" dirty="0"/>
          </a:p>
        </p:txBody>
      </p:sp>
      <p:sp>
        <p:nvSpPr>
          <p:cNvPr id="11" name="Card body 3"/>
          <p:cNvSpPr txBox="1"/>
          <p:nvPr/>
        </p:nvSpPr>
        <p:spPr>
          <a:xfrm>
            <a:off x="8412480" y="25603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Non-ideal values are assumed, not 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S-matrix is circuit-level, not derived from geometry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 step: validate in HFSS or CST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gicTee Mono">
  <a:themeElements>
    <a:clrScheme name="MagicTee Mono">
      <a:dk1>
        <a:srgbClr val="1A1A1A"/>
      </a:dk1>
      <a:lt1>
        <a:srgbClr val="FFFFFF"/>
      </a:lt1>
      <a:dk2>
        <a:srgbClr val="1F3A5F"/>
      </a:dk2>
      <a:lt2>
        <a:srgbClr val="F2F4F7"/>
      </a:lt2>
      <a:accent1>
        <a:srgbClr val="1F3A5F"/>
      </a:accent1>
      <a:accent2>
        <a:srgbClr val="5B6B7F"/>
      </a:accent2>
      <a:accent3>
        <a:srgbClr val="8A97A8"/>
      </a:accent3>
      <a:accent4>
        <a:srgbClr val="C5CCD6"/>
      </a:accent4>
      <a:accent5>
        <a:srgbClr val="3A4A5E"/>
      </a:accent5>
      <a:accent6>
        <a:srgbClr val="E6E9EE"/>
      </a:accent6>
      <a:hlink>
        <a:srgbClr val="1F3A5F"/>
      </a:hlink>
      <a:folHlink>
        <a:srgbClr val="5B6B7F"/>
      </a:folHlink>
    </a:clrScheme>
    <a:fontScheme name="MagicTee Mo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847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MagicTee Mono</vt:lpstr>
      <vt:lpstr>Magic Tee (Hybrid Tee) Formation and Analysis</vt:lpstr>
      <vt:lpstr>Introduction and Objective</vt:lpstr>
      <vt:lpstr>Structure and Ports</vt:lpstr>
      <vt:lpstr>Working Principle and S-Matrix</vt:lpstr>
      <vt:lpstr>MATLAB Implementation</vt:lpstr>
      <vt:lpstr>MATLAB Command Window Output</vt:lpstr>
      <vt:lpstr>3D Geometry</vt:lpstr>
      <vt:lpstr>S-Matrix and Power Distribution</vt:lpstr>
      <vt:lpstr>Sum-Difference Behaviour and Waveguide Data</vt:lpstr>
      <vt:lpstr>Conclusion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Tee (Hybrid Tee) Formation and Analysis</dc:title>
  <dc:subject>Microwave and Waveguide</dc:subject>
  <dc:creator>PptxGenJS</dc:creator>
  <cp:lastModifiedBy>Pranov</cp:lastModifiedBy>
  <cp:revision>4</cp:revision>
  <dcterms:created xsi:type="dcterms:W3CDTF">2026-10-24T05:04:52Z</dcterms:created>
  <dcterms:modified xsi:type="dcterms:W3CDTF">2026-10-24T05:15:58Z</dcterms:modified>
</cp:coreProperties>
</file>